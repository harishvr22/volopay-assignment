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a:spAutoFit/>
          </a:bodyPr>
          <a:lstStyle/>
          <a:p>
            <a:pPr>
              <a:defRPr sz="1000" b="1">
                <a:solidFill>
                  <a:srgbClr val="38BDF8"/>
                </a:solidFill>
              </a:defRPr>
            </a:pPr>
            <a:r>
              <a:t>SLIDE 1 / 5 • SPENDNEST REVENUE INTELLIGENCE WORKSPACE</a:t>
            </a:r>
          </a:p>
          <a:p>
            <a:pPr>
              <a:spcBef>
                <a:spcPts val="400"/>
              </a:spcBef>
              <a:defRPr sz="2200" b="1">
                <a:solidFill>
                  <a:srgbClr val="F8FAFC"/>
                </a:solidFill>
              </a:defRPr>
            </a:pPr>
            <a:r>
              <a:t>The Manager Problem &amp; 3 Evidence-Backed Findings</a:t>
            </a:r>
          </a:p>
          <a:p>
            <a:pPr>
              <a:spcBef>
                <a:spcPts val="200"/>
              </a:spcBef>
              <a:defRPr sz="1200">
                <a:solidFill>
                  <a:srgbClr val="94A3B8"/>
                </a:solidFill>
              </a:defRPr>
            </a:pPr>
            <a:r>
              <a:t>Solving information fragmentation, unverified upstream labels, and late-arriving transcripts.</a:t>
            </a:r>
          </a:p>
        </p:txBody>
      </p:sp>
      <p:sp>
        <p:nvSpPr>
          <p:cNvPr id="4" name="Rounded Rectangle 3"/>
          <p:cNvSpPr/>
          <p:nvPr/>
        </p:nvSpPr>
        <p:spPr>
          <a:xfrm>
            <a:off x="731520" y="1645920"/>
            <a:ext cx="10698480" cy="10972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CORE MANAGER CHALLENGE</a:t>
            </a:r>
          </a:p>
          <a:p>
            <a:pPr>
              <a:spcBef>
                <a:spcPts val="300"/>
              </a:spcBef>
              <a:defRPr sz="1100">
                <a:solidFill>
                  <a:srgbClr val="F8FAFC"/>
                </a:solidFill>
              </a:defRPr>
            </a:pPr>
            <a:r>
              <a:t>Sales managers receive incoming calls, calendar meetings, and automated tags across disconnected systems. Existing summaries are withheld or incomplete, metadata conflicts with actual spoken words, transcripts arrive out of order, and generic CRMs force every conversation into an artificial sales pipeline.</a:t>
            </a:r>
          </a:p>
        </p:txBody>
      </p:sp>
      <p:sp>
        <p:nvSpPr>
          <p:cNvPr id="5" name="Rounded Rectangle 4"/>
          <p:cNvSpPr/>
          <p:nvPr/>
        </p:nvSpPr>
        <p:spPr>
          <a:xfrm>
            <a:off x="731520" y="2926080"/>
            <a:ext cx="3383280" cy="3474720"/>
          </a:xfrm>
          <a:prstGeom prst="round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4D399"/>
                </a:solidFill>
              </a:defRPr>
            </a:pPr>
            <a:r>
              <a:t>Finding 1: Post-Sale Defect Escalation (M07)</a:t>
            </a:r>
          </a:p>
          <a:p>
            <a:pPr>
              <a:spcBef>
                <a:spcPts val="400"/>
              </a:spcBef>
              <a:defRPr sz="1000">
                <a:solidFill>
                  <a:srgbClr val="F8FAFC"/>
                </a:solidFill>
              </a:defRPr>
            </a:pPr>
            <a:r>
              <a:t>Observation: Customer A demonstrated 4 critical billing &amp; reimbursement bugs (event description edit failing to persist, Recreate payment upload failure, stuck processing reimbursements, cached INR 18,200 amount).</a:t>
            </a:r>
            <a:br/>
            <a:r>
              <a:t>Source: Meeting M07, Turns 3, 12, 23, 25.</a:t>
            </a:r>
            <a:br/>
            <a:r>
              <a:t>Product Decision: Implemented multi-route model pairing Customer Follow-up with Sales Coaching/Engineering Escalation. Designed late-transcript update preserving manual overrides.</a:t>
            </a:r>
          </a:p>
        </p:txBody>
      </p:sp>
      <p:sp>
        <p:nvSpPr>
          <p:cNvPr id="6" name="Rounded Rectangle 5"/>
          <p:cNvSpPr/>
          <p:nvPr/>
        </p:nvSpPr>
        <p:spPr>
          <a:xfrm>
            <a:off x="4389120" y="2926080"/>
            <a:ext cx="3383280" cy="347472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BBF24"/>
                </a:solidFill>
              </a:defRPr>
            </a:pPr>
            <a:r>
              <a:t>Finding 2: Telephony Rep vs Spoken Caller Mismatch (C06)</a:t>
            </a:r>
          </a:p>
          <a:p>
            <a:pPr>
              <a:spcBef>
                <a:spcPts val="400"/>
              </a:spcBef>
              <a:defRPr sz="1000">
                <a:solidFill>
                  <a:srgbClr val="F8FAFC"/>
                </a:solidFill>
              </a:defRPr>
            </a:pPr>
            <a:r>
              <a:t>Observation: Call metadata assigned rep_name as 'Meera', but caller verbally stated 'Ravi here. I'll say at the start that this is a cold call.'</a:t>
            </a:r>
            <a:br/>
            <a:r>
              <a:t>Source: Call C06, Short exact quote.</a:t>
            </a:r>
            <a:br/>
            <a:r>
              <a:t>Product Decision: Surfaced both stored metadata and verbal transcript proof side-by-side; added Sales Coaching route to audit telephony account sharing and caller ID profiles.</a:t>
            </a:r>
          </a:p>
        </p:txBody>
      </p:sp>
      <p:sp>
        <p:nvSpPr>
          <p:cNvPr id="7" name="Rounded Rectangle 6"/>
          <p:cNvSpPr/>
          <p:nvPr/>
        </p:nvSpPr>
        <p:spPr>
          <a:xfrm>
            <a:off x="8046720" y="2926080"/>
            <a:ext cx="3383280" cy="347472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Finding 3: Regulatory Compliance Boundary (M01)</a:t>
            </a:r>
          </a:p>
          <a:p>
            <a:pPr>
              <a:spcBef>
                <a:spcPts val="400"/>
              </a:spcBef>
              <a:defRPr sz="1000">
                <a:solidFill>
                  <a:srgbClr val="F8FAFC"/>
                </a:solidFill>
              </a:defRPr>
            </a:pPr>
            <a:r>
              <a:t>Observation: Harborpath Advisory assumed SpendNest opens remote personal accounts for overseas individuals; Team member A established strict boundary that SpendNest only serves registered US business entities.</a:t>
            </a:r>
            <a:br/>
            <a:r>
              <a:t>Source: Meeting M01, Turns 2, 4.</a:t>
            </a:r>
            <a:br/>
            <a:r>
              <a:t>Product Decision: Separated Partner Coordination from direct customer sales; mandated compliance boundary verification in the inspection 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a:spAutoFit/>
          </a:bodyPr>
          <a:lstStyle/>
          <a:p>
            <a:pPr>
              <a:defRPr sz="1000" b="1">
                <a:solidFill>
                  <a:srgbClr val="38BDF8"/>
                </a:solidFill>
              </a:defRPr>
            </a:pPr>
            <a:r>
              <a:t>SLIDE 2 / 5 • SPENDNEST REVENUE INTELLIGENCE WORKSPACE</a:t>
            </a:r>
          </a:p>
          <a:p>
            <a:pPr>
              <a:spcBef>
                <a:spcPts val="400"/>
              </a:spcBef>
              <a:defRPr sz="2200" b="1">
                <a:solidFill>
                  <a:srgbClr val="F8FAFC"/>
                </a:solidFill>
              </a:defRPr>
            </a:pPr>
            <a:r>
              <a:t>Interface Decisions &amp; Deliberate Omissions</a:t>
            </a:r>
          </a:p>
          <a:p>
            <a:pPr>
              <a:spcBef>
                <a:spcPts val="200"/>
              </a:spcBef>
              <a:defRPr sz="1200">
                <a:solidFill>
                  <a:srgbClr val="94A3B8"/>
                </a:solidFill>
              </a:defRPr>
            </a:pPr>
            <a:r>
              <a:t>Prioritizing information clarity, traceability, and verifiable operational signals over vanity charts.</a:t>
            </a:r>
          </a:p>
        </p:txBody>
      </p:sp>
      <p:sp>
        <p:nvSpPr>
          <p:cNvPr id="4" name="Rounded Rectangle 3"/>
          <p:cNvSpPr/>
          <p:nvPr/>
        </p:nvSpPr>
        <p:spPr>
          <a:xfrm>
            <a:off x="731520" y="164592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CORE INTERFACE ARCHITECTURE DECISIONS</a:t>
            </a:r>
          </a:p>
          <a:p>
            <a:pPr>
              <a:spcBef>
                <a:spcPts val="800"/>
              </a:spcBef>
              <a:defRPr sz="1050">
                <a:solidFill>
                  <a:srgbClr val="F8FAFC"/>
                </a:solidFill>
              </a:defRPr>
            </a:pPr>
            <a:r>
              <a:t>• Traceable Evidence Display: Every analysis directly links to 1-based turn numbers for meetings (e.g. M07 turn 12) or exact verbatim quotes for calls, keeping proof immediately findable.</a:t>
            </a:r>
          </a:p>
          <a:p>
            <a:pPr>
              <a:spcBef>
                <a:spcPts val="800"/>
              </a:spcBef>
              <a:defRPr sz="1050">
                <a:solidFill>
                  <a:srgbClr val="F8FAFC"/>
                </a:solidFill>
              </a:defRPr>
            </a:pPr>
            <a:r>
              <a:t>• Strict Operational Denominators: The Dashboard clearly defines its base metrics: 44 total records, 40.91% usable text coverage (18/44), and 33.33% source-reported call connection rate (10/30).</a:t>
            </a:r>
          </a:p>
          <a:p>
            <a:pPr>
              <a:spcBef>
                <a:spcPts val="800"/>
              </a:spcBef>
              <a:defRPr sz="1050">
                <a:solidFill>
                  <a:srgbClr val="F8FAFC"/>
                </a:solidFill>
              </a:defRPr>
            </a:pPr>
            <a:r>
              <a:t>• Role Attribution Safeguards: Telephony reps (Arun, Leela, Kiran, Meera, Dev) are explicitly distinguished from calendar meeting organizers (team06-team14). Organizers are invite creators, not verified salespeople.</a:t>
            </a:r>
          </a:p>
          <a:p>
            <a:pPr>
              <a:spcBef>
                <a:spcPts val="800"/>
              </a:spcBef>
              <a:defRPr sz="1050">
                <a:solidFill>
                  <a:srgbClr val="F8FAFC"/>
                </a:solidFill>
              </a:defRPr>
            </a:pPr>
            <a:r>
              <a:t>• Clickable Navigation Flow: Clicking any dashboard card, route bar, or person row instantly filters the 44-record inbox to that exact slice for immediate inspection.</a:t>
            </a:r>
          </a:p>
        </p:txBody>
      </p:sp>
      <p:sp>
        <p:nvSpPr>
          <p:cNvPr id="5" name="Rounded Rectangle 4"/>
          <p:cNvSpPr/>
          <p:nvPr/>
        </p:nvSpPr>
        <p:spPr>
          <a:xfrm>
            <a:off x="6217920" y="1645920"/>
            <a:ext cx="5212080" cy="475488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BBF24"/>
                </a:solidFill>
              </a:defRPr>
            </a:pPr>
            <a:r>
              <a:t>WHAT WE DELIBERATELY LEFT OUT &amp; WHY</a:t>
            </a:r>
          </a:p>
          <a:p>
            <a:pPr>
              <a:spcBef>
                <a:spcPts val="800"/>
              </a:spcBef>
              <a:defRPr sz="1050">
                <a:solidFill>
                  <a:srgbClr val="F8FAFC"/>
                </a:solidFill>
              </a:defRPr>
            </a:pPr>
            <a:r>
              <a:t>• Deliberately Rejected Decision (Pipeline Currency): We explicitly rejected fabricating CRM deal values, opportunity stages, or weighted revenue totals from spoken conversational numbers (e.g. Asterloom's card counts or Willowfield's INR 18,200 defect figure).</a:t>
            </a:r>
          </a:p>
          <a:p>
            <a:pPr>
              <a:spcBef>
                <a:spcPts val="800"/>
              </a:spcBef>
              <a:defRPr sz="1050">
                <a:solidFill>
                  <a:srgbClr val="F8FAFC"/>
                </a:solidFill>
              </a:defRPr>
            </a:pPr>
            <a:r>
              <a:t>• Why Rejected: DATA_DICTIONARY strictly prohibits inventing pipeline numbers: 'Monetary amounts within conversation text keep their stated units; no comparable opportunity-value table is supplied.' Conversational numbers reflect software bugs or exploratory queries, not confirmed bookings.</a:t>
            </a:r>
          </a:p>
          <a:p>
            <a:pPr>
              <a:spcBef>
                <a:spcPts val="800"/>
              </a:spcBef>
              <a:defRPr sz="1050">
                <a:solidFill>
                  <a:srgbClr val="F8FAFC"/>
                </a:solidFill>
              </a:defRPr>
            </a:pPr>
            <a:r>
              <a:t>• Accepted Trade-Off: The workspace provides zero speculative revenue forecasting or pipeline charts, delivering instead 100% verifiable operational intelligence and actionable next steps.</a:t>
            </a:r>
          </a:p>
          <a:p>
            <a:pPr>
              <a:spcBef>
                <a:spcPts val="800"/>
              </a:spcBef>
              <a:defRPr sz="1050">
                <a:solidFill>
                  <a:srgbClr val="F8FAFC"/>
                </a:solidFill>
              </a:defRPr>
            </a:pPr>
            <a:r>
              <a:t>• Omission of Fabricated Attendees: We did not fabricate attendee identities, job titles, or participant directories where the source extract omitted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a:spAutoFit/>
          </a:bodyPr>
          <a:lstStyle/>
          <a:p>
            <a:pPr>
              <a:defRPr sz="1000" b="1">
                <a:solidFill>
                  <a:srgbClr val="38BDF8"/>
                </a:solidFill>
              </a:defRPr>
            </a:pPr>
            <a:r>
              <a:t>SLIDE 3 / 5 • SPENDNEST REVENUE INTELLIGENCE WORKSPACE</a:t>
            </a:r>
          </a:p>
          <a:p>
            <a:pPr>
              <a:spcBef>
                <a:spcPts val="400"/>
              </a:spcBef>
              <a:defRPr sz="2200" b="1">
                <a:solidFill>
                  <a:srgbClr val="F8FAFC"/>
                </a:solidFill>
              </a:defRPr>
            </a:pPr>
            <a:r>
              <a:t>Routing/Folder Design &amp; A Difficult Case (M07)</a:t>
            </a:r>
          </a:p>
          <a:p>
            <a:pPr>
              <a:spcBef>
                <a:spcPts val="200"/>
              </a:spcBef>
              <a:defRPr sz="1200">
                <a:solidFill>
                  <a:srgbClr val="94A3B8"/>
                </a:solidFill>
              </a:defRPr>
            </a:pPr>
            <a:r>
              <a:t>Transparent multi-route taxonomy, conflict-free export hierarchy, and handling late-arriving transcripts.</a:t>
            </a:r>
          </a:p>
        </p:txBody>
      </p:sp>
      <p:sp>
        <p:nvSpPr>
          <p:cNvPr id="4" name="Rounded Rectangle 3"/>
          <p:cNvSpPr/>
          <p:nvPr/>
        </p:nvSpPr>
        <p:spPr>
          <a:xfrm>
            <a:off x="731520" y="1645920"/>
            <a:ext cx="5212080" cy="4754880"/>
          </a:xfrm>
          <a:prstGeom prst="round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MULTI-ROUTE TAXONOMY &amp; ARCHIVE DESIGN</a:t>
            </a:r>
          </a:p>
          <a:p>
            <a:pPr>
              <a:spcBef>
                <a:spcPts val="800"/>
              </a:spcBef>
              <a:defRPr sz="1050">
                <a:solidFill>
                  <a:srgbClr val="F8FAFC"/>
                </a:solidFill>
              </a:defRPr>
            </a:pPr>
            <a:r>
              <a:t>• 6 Core Destination Routes: Customer Follow-up, Deal / Commercial Next Step, Sales Coaching, Partner / Vendor Coordination, Nurture / No Immediate Action, and Manual Review.</a:t>
            </a:r>
          </a:p>
          <a:p>
            <a:pPr>
              <a:spcBef>
                <a:spcPts val="800"/>
              </a:spcBef>
              <a:defRPr sz="1050">
                <a:solidFill>
                  <a:srgbClr val="F8FAFC"/>
                </a:solidFill>
              </a:defRPr>
            </a:pPr>
            <a:r>
              <a:t>• Multi-Route Flexibility: Conversations can legitimately require multiple destinations (e.g. C03 has Customer Follow-up &amp; Deal Next Step; C06 has Sales Coaching &amp; Nurture).</a:t>
            </a:r>
          </a:p>
          <a:p>
            <a:pPr>
              <a:spcBef>
                <a:spcPts val="800"/>
              </a:spcBef>
              <a:defRPr sz="1050">
                <a:solidFill>
                  <a:srgbClr val="F8FAFC"/>
                </a:solidFill>
              </a:defRPr>
            </a:pPr>
            <a:r>
              <a:t>• Automated vs Manual Separation: System automated suggestions remain visible alongside explicit manager manual overrides with audit rationales and reset controls.</a:t>
            </a:r>
          </a:p>
          <a:p>
            <a:pPr>
              <a:spcBef>
                <a:spcPts val="800"/>
              </a:spcBef>
              <a:defRPr sz="1050">
                <a:solidFill>
                  <a:srgbClr val="F8FAFC"/>
                </a:solidFill>
              </a:defRPr>
            </a:pPr>
            <a:r>
              <a:t>• Organised Export Architecture: Generates real downloadable ZIP: /manifest.json, /manifest.csv, /routing_summary.csv, /findings.json, /brief/manager_brief_2026-08-21.md, /records/ (44 files), and /analysis/ (18 files). Every manifest path is programmatically verified.</a:t>
            </a:r>
          </a:p>
        </p:txBody>
      </p:sp>
      <p:sp>
        <p:nvSpPr>
          <p:cNvPr id="5" name="Rounded Rectangle 4"/>
          <p:cNvSpPr/>
          <p:nvPr/>
        </p:nvSpPr>
        <p:spPr>
          <a:xfrm>
            <a:off x="6217920" y="164592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DIFFICULT CASE STUDY: RECORD M07</a:t>
            </a:r>
          </a:p>
          <a:p>
            <a:pPr>
              <a:spcBef>
                <a:spcPts val="800"/>
              </a:spcBef>
              <a:defRPr sz="1050">
                <a:solidFill>
                  <a:srgbClr val="F8FAFC"/>
                </a:solidFill>
              </a:defRPr>
            </a:pPr>
            <a:r>
              <a:t>• The Initial Delivery Condition (Rev 1): M07 arrived in 01_initial.json with recording_status 'recorded' and has_transcript true, but turns was empty ([]) with unavailable_reason 'no_speech'. System correctly assigned Manual Review without fabricating analysis.</a:t>
            </a:r>
          </a:p>
          <a:p>
            <a:pPr>
              <a:spcBef>
                <a:spcPts val="800"/>
              </a:spcBef>
              <a:defRPr sz="1050">
                <a:solidFill>
                  <a:srgbClr val="F8FAFC"/>
                </a:solidFill>
              </a:defRPr>
            </a:pPr>
            <a:r>
              <a:t>• Manual Manager Route Assignment: Manager inspected M07 and manually set destination to Customer Follow-up + Sales Coaching with rationale.</a:t>
            </a:r>
          </a:p>
          <a:p>
            <a:pPr>
              <a:spcBef>
                <a:spcPts val="800"/>
              </a:spcBef>
              <a:defRPr sz="1050">
                <a:solidFill>
                  <a:srgbClr val="F8FAFC"/>
                </a:solidFill>
              </a:defRPr>
            </a:pPr>
            <a:r>
              <a:t>• Late-Transcript Update (Rev 2): Delivery 02_update.json supplied Revision 2 with a 27-turn transcript demonstrating 4 production software defects.</a:t>
            </a:r>
          </a:p>
          <a:p>
            <a:pPr>
              <a:spcBef>
                <a:spcPts val="800"/>
              </a:spcBef>
              <a:defRPr sz="1050">
                <a:solidFill>
                  <a:srgbClr val="F8FAFC"/>
                </a:solidFill>
              </a:defRPr>
            </a:pPr>
            <a:r>
              <a:t>• Data Contract Compliance: M07 entire payload was replaced by Rev 2; analysis updated to Fresh (Rev 2); the manager's manual route remained active throughout! Subsequent re-import of Rev 1 was correctly ignored.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a:spAutoFit/>
          </a:bodyPr>
          <a:lstStyle/>
          <a:p>
            <a:pPr>
              <a:defRPr sz="1000" b="1">
                <a:solidFill>
                  <a:srgbClr val="38BDF8"/>
                </a:solidFill>
              </a:defRPr>
            </a:pPr>
            <a:r>
              <a:t>SLIDE 4 / 5 • SPENDNEST REVENUE INTELLIGENCE WORKSPACE</a:t>
            </a:r>
          </a:p>
          <a:p>
            <a:pPr>
              <a:spcBef>
                <a:spcPts val="400"/>
              </a:spcBef>
              <a:defRPr sz="2200" b="1">
                <a:solidFill>
                  <a:srgbClr val="F8FAFC"/>
                </a:solidFill>
              </a:defRPr>
            </a:pPr>
            <a:r>
              <a:t>Validation of a Key Number &amp; Analytical Conclusion</a:t>
            </a:r>
          </a:p>
          <a:p>
            <a:pPr>
              <a:spcBef>
                <a:spcPts val="200"/>
              </a:spcBef>
              <a:defRPr sz="1200">
                <a:solidFill>
                  <a:srgbClr val="94A3B8"/>
                </a:solidFill>
              </a:defRPr>
            </a:pPr>
            <a:r>
              <a:t>Step-by-step verification against raw source records, envelope payloads, and transcript turns.</a:t>
            </a:r>
          </a:p>
        </p:txBody>
      </p:sp>
      <p:sp>
        <p:nvSpPr>
          <p:cNvPr id="4" name="Rounded Rectangle 3"/>
          <p:cNvSpPr/>
          <p:nvPr/>
        </p:nvSpPr>
        <p:spPr>
          <a:xfrm>
            <a:off x="731520" y="164592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VALIDATION OF A KEY NUMBER: USABLE TEXT COVERAGE</a:t>
            </a:r>
          </a:p>
          <a:p>
            <a:pPr>
              <a:spcBef>
                <a:spcPts val="800"/>
              </a:spcBef>
              <a:defRPr sz="1050">
                <a:solidFill>
                  <a:srgbClr val="F8FAFC"/>
                </a:solidFill>
              </a:defRPr>
            </a:pPr>
            <a:r>
              <a:t>• The Headline Number: Usable supplied text coverage is exactly 18 / 44 (40.91%) post-update (17 / 44 = 38.64% initially).</a:t>
            </a:r>
          </a:p>
          <a:p>
            <a:pPr>
              <a:spcBef>
                <a:spcPts val="800"/>
              </a:spcBef>
              <a:defRPr sz="1050">
                <a:solidFill>
                  <a:srgbClr val="F8FAFC"/>
                </a:solidFill>
              </a:defRPr>
            </a:pPr>
            <a:r>
              <a:t>• Source Verification Check: We inspected all 44 records in 01_initial.json. 30 calls: exactly 10 calls (C01-C10) have non-null, non-blank payload.transcript. 20 calls (B01-B20) have transcript=null.</a:t>
            </a:r>
          </a:p>
          <a:p>
            <a:pPr>
              <a:spcBef>
                <a:spcPts val="800"/>
              </a:spcBef>
              <a:defRPr sz="1050">
                <a:solidFill>
                  <a:srgbClr val="F8FAFC"/>
                </a:solidFill>
              </a:defRPr>
            </a:pPr>
            <a:r>
              <a:t>• Meeting Turns Audit: 14 meetings: exactly 7 meetings (M01-M04, M06, M09, M10) initially contain non-blank speaker turns. 7 meetings (M05, M07, M08, M11-M14) have turns=[]. Total initial usable = 10 + 7 = 17.</a:t>
            </a:r>
          </a:p>
          <a:p>
            <a:pPr>
              <a:spcBef>
                <a:spcPts val="800"/>
              </a:spcBef>
              <a:defRPr sz="1050">
                <a:solidFill>
                  <a:srgbClr val="F8FAFC"/>
                </a:solidFill>
              </a:defRPr>
            </a:pPr>
            <a:r>
              <a:t>• Post-Update Verification: In 02_update.json, M07 revision 2 supplies 27 turns. Total usable becomes 10 + 8 = 18. Distinct records remains strictly 44 (not 45). Verified via automated unit tests.</a:t>
            </a:r>
          </a:p>
        </p:txBody>
      </p:sp>
      <p:sp>
        <p:nvSpPr>
          <p:cNvPr id="5" name="Rounded Rectangle 4"/>
          <p:cNvSpPr/>
          <p:nvPr/>
        </p:nvSpPr>
        <p:spPr>
          <a:xfrm>
            <a:off x="6217920" y="1645920"/>
            <a:ext cx="5212080" cy="4754880"/>
          </a:xfrm>
          <a:prstGeom prst="roundRect">
            <a:avLst/>
          </a:prstGeom>
          <a:solidFill>
            <a:srgbClr val="1E293B"/>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BF24"/>
                </a:solidFill>
              </a:defRPr>
            </a:pPr>
            <a:r>
              <a:t>VALIDATION OF AN ANALYTICAL CONCLUSION: C06 CALLER MISMATCH</a:t>
            </a:r>
          </a:p>
          <a:p>
            <a:pPr>
              <a:spcBef>
                <a:spcPts val="800"/>
              </a:spcBef>
              <a:defRPr sz="1050">
                <a:solidFill>
                  <a:srgbClr val="F8FAFC"/>
                </a:solidFill>
              </a:defRPr>
            </a:pPr>
            <a:r>
              <a:t>• The Conclusion: Call C06 represents a high-priority Sales Coaching item for telephony credential and account audit due to identity mismatch.</a:t>
            </a:r>
          </a:p>
          <a:p>
            <a:pPr>
              <a:spcBef>
                <a:spcPts val="800"/>
              </a:spcBef>
              <a:defRPr sz="1050">
                <a:solidFill>
                  <a:srgbClr val="F8FAFC"/>
                </a:solidFill>
              </a:defRPr>
            </a:pPr>
            <a:r>
              <a:t>• Source Evidence Verification: In data/01_initial.json record C06, payload fields record: rep_name: 'Meera', rep_email: 'meera@example.com'.</a:t>
            </a:r>
          </a:p>
          <a:p>
            <a:pPr>
              <a:spcBef>
                <a:spcPts val="800"/>
              </a:spcBef>
              <a:defRPr sz="1050">
                <a:solidFill>
                  <a:srgbClr val="F8FAFC"/>
                </a:solidFill>
              </a:defRPr>
            </a:pPr>
            <a:r>
              <a:t>• Transcript Discrepancy: Verbatim transcript begins: 'Hello? Good evening, Mr Nikhil. Good evening. Ravi here. I'll say at the start that this is a cold call.'</a:t>
            </a:r>
          </a:p>
          <a:p>
            <a:pPr>
              <a:spcBef>
                <a:spcPts val="800"/>
              </a:spcBef>
              <a:defRPr sz="1050">
                <a:solidFill>
                  <a:srgbClr val="F8FAFC"/>
                </a:solidFill>
              </a:defRPr>
            </a:pPr>
            <a:r>
              <a:t>• Why This Matters: If a manager blindly trusted telephony tags, coaching would be attributed to Meera. Grounded inspection caught the identity conflict, proving that previous system tags cannot be treated as ground truth.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a:spAutoFit/>
          </a:bodyPr>
          <a:lstStyle/>
          <a:p>
            <a:pPr>
              <a:defRPr sz="1000" b="1">
                <a:solidFill>
                  <a:srgbClr val="38BDF8"/>
                </a:solidFill>
              </a:defRPr>
            </a:pPr>
            <a:r>
              <a:t>SLIDE 5 / 5 • SPENDNEST REVENUE INTELLIGENCE WORKSPACE</a:t>
            </a:r>
          </a:p>
          <a:p>
            <a:pPr>
              <a:spcBef>
                <a:spcPts val="400"/>
              </a:spcBef>
              <a:defRPr sz="2200" b="1">
                <a:solidFill>
                  <a:srgbClr val="F8FAFC"/>
                </a:solidFill>
              </a:defRPr>
            </a:pPr>
            <a:r>
              <a:t>Trade-Offs, AI Usage, Limitations &amp; Next Steps</a:t>
            </a:r>
          </a:p>
          <a:p>
            <a:pPr>
              <a:spcBef>
                <a:spcPts val="200"/>
              </a:spcBef>
              <a:defRPr sz="1200">
                <a:solidFill>
                  <a:srgbClr val="94A3B8"/>
                </a:solidFill>
              </a:defRPr>
            </a:pPr>
            <a:r>
              <a:t>Transparent engineering assessment, time allocation, and production roadmap.</a:t>
            </a:r>
          </a:p>
        </p:txBody>
      </p:sp>
      <p:sp>
        <p:nvSpPr>
          <p:cNvPr id="4" name="Rounded Rectangle 3"/>
          <p:cNvSpPr/>
          <p:nvPr/>
        </p:nvSpPr>
        <p:spPr>
          <a:xfrm>
            <a:off x="731520" y="1645920"/>
            <a:ext cx="5212080" cy="475488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AI USAGE &amp; DETERMINISTIC ARCHITECTURE</a:t>
            </a:r>
          </a:p>
          <a:p>
            <a:pPr>
              <a:spcBef>
                <a:spcPts val="800"/>
              </a:spcBef>
              <a:defRPr sz="1050">
                <a:solidFill>
                  <a:srgbClr val="F8FAFC"/>
                </a:solidFill>
              </a:defRPr>
            </a:pPr>
            <a:r>
              <a:t>• Transparent AI Disclosure: Analyses for the 18 usable conversations and the Manager Brief were carefully pre-generated and verified against source transcripts. The application computes deduplication, revisions, filters, and routing deterministically at runtime.</a:t>
            </a:r>
          </a:p>
          <a:p>
            <a:pPr>
              <a:spcBef>
                <a:spcPts val="800"/>
              </a:spcBef>
              <a:defRPr sz="1050">
                <a:solidFill>
                  <a:srgbClr val="F8FAFC"/>
                </a:solidFill>
              </a:defRPr>
            </a:pPr>
            <a:r>
              <a:t>• Zero Fabrication Guarantee: No live LLM API was invoked at runtime to avoid hallucinating facts or violating local boundaries. No external API keys required.</a:t>
            </a:r>
          </a:p>
          <a:p>
            <a:pPr>
              <a:spcBef>
                <a:spcPts val="800"/>
              </a:spcBef>
              <a:defRPr sz="1050">
                <a:solidFill>
                  <a:srgbClr val="F8FAFC"/>
                </a:solidFill>
              </a:defRPr>
            </a:pPr>
            <a:r>
              <a:t>• Data Contract Compliance: Identity is strictly (source_type, source_id); revision upserts replace whole payloads; manual overrides are persisted in browser localStorage across browser refresh.</a:t>
            </a:r>
          </a:p>
          <a:p>
            <a:pPr>
              <a:spcBef>
                <a:spcPts val="800"/>
              </a:spcBef>
              <a:defRPr sz="1050">
                <a:solidFill>
                  <a:srgbClr val="F8FAFC"/>
                </a:solidFill>
              </a:defRPr>
            </a:pPr>
            <a:r>
              <a:t>• Time Spent: Approximately 7.5 hours invested across data contract engineering, UI implementation, automated testing, and presentation artifacts.</a:t>
            </a:r>
          </a:p>
        </p:txBody>
      </p:sp>
      <p:sp>
        <p:nvSpPr>
          <p:cNvPr id="5" name="Rounded Rectangle 4"/>
          <p:cNvSpPr/>
          <p:nvPr/>
        </p:nvSpPr>
        <p:spPr>
          <a:xfrm>
            <a:off x="6217920" y="1645920"/>
            <a:ext cx="5212080" cy="4754880"/>
          </a:xfrm>
          <a:prstGeom prst="round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KNOWN LIMITATIONS &amp; FUTURE IMPROVEMENTS</a:t>
            </a:r>
          </a:p>
          <a:p>
            <a:pPr>
              <a:spcBef>
                <a:spcPts val="800"/>
              </a:spcBef>
              <a:defRPr sz="1050">
                <a:solidFill>
                  <a:srgbClr val="F8FAFC"/>
                </a:solidFill>
              </a:defRPr>
            </a:pPr>
            <a:r>
              <a:t>• Single-Day Activity Window: The dataset captures a curated slice on 21 August 2026 (Asia/Kolkata). It does not represent longitudinal rep quotas or whole-team annual trends.</a:t>
            </a:r>
          </a:p>
          <a:p>
            <a:pPr>
              <a:spcBef>
                <a:spcPts val="800"/>
              </a:spcBef>
              <a:defRPr sz="1050">
                <a:solidFill>
                  <a:srgbClr val="F8FAFC"/>
                </a:solidFill>
              </a:defRPr>
            </a:pPr>
            <a:r>
              <a:t>• No Direct Upstream Telephony Sync: Telephony updates currently require batch JSON ingestion rather than a live CTI webhook.</a:t>
            </a:r>
          </a:p>
          <a:p>
            <a:pPr>
              <a:spcBef>
                <a:spcPts val="800"/>
              </a:spcBef>
              <a:defRPr sz="1050">
                <a:solidFill>
                  <a:srgbClr val="F8FAFC"/>
                </a:solidFill>
              </a:defRPr>
            </a:pPr>
            <a:r>
              <a:t>• Future Improvement 1 (Live CRM Integration): Connect bi-directional sync to Salesforce/HubSpot to write back verified action items directly into account task queues.</a:t>
            </a:r>
          </a:p>
          <a:p>
            <a:pPr>
              <a:spcBef>
                <a:spcPts val="800"/>
              </a:spcBef>
              <a:defRPr sz="1050">
                <a:solidFill>
                  <a:srgbClr val="F8FAFC"/>
                </a:solidFill>
              </a:defRPr>
            </a:pPr>
            <a:r>
              <a:t>• Future Improvement 2 (Private LLM Sidecar): Embed a local, on-premise model (e.g. Ollama/Llama 3) for real-time draft analysis on new incoming audio transcripts without cloud data leakage.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